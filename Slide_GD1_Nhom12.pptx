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a89e43ad-13b0-11bb-4468-ef0be89afea5}">
          <p14:sldIdLst>
            <p14:sldId id="256"/>
            <p14:sldId id="257"/>
          </p14:sldIdLst>
        </p14:section>
        <p14:section name="Chương 1 – Tổng quan" id="{39e2fc63-9ab2-d913-6542-63993a268189}">
          <p14:sldIdLst>
            <p14:sldId id="258"/>
            <p14:sldId id="259"/>
            <p14:sldId id="260"/>
            <p14:sldId id="261"/>
          </p14:sldIdLst>
        </p14:section>
        <p14:section name="Chương 2 – Công nghệ" id="{bb2d95b8-be8d-08b7-a7ba-22d02dc6b603}">
          <p14:sldIdLst>
            <p14:sldId id="262"/>
            <p14:sldId id="263"/>
            <p14:sldId id="264"/>
            <p14:sldId id="265"/>
          </p14:sldIdLst>
        </p14:section>
        <p14:section name="Chương 3 – Phân tích" id="{20c5712b-4f16-0a3d-cd2d-a19e0a74d6f8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Kết luận" id="{893a7d88-c6ce-9aef-c47a-401fefe8754a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Chao thay va cac ban. Nhom 12 bao cao giai doan 1 de tai He thong quan ly va ban sach truc tuyen. Nhom gom 3 thanh vien.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Bai bao cao gom ba chuong theo dung yeu cau cua thay cho giai doan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 trai la cach lam hien tai cua nha sach, ben phai la nhung gi he thong giai quyet.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la yeu cau bat buoc cua de bai: hai thanh phan, mot co so du lieu chung.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vai tro trong he thong: KHACH HANG, NHAN VIEN, QUAN LY. Quan ly ke thua quyen cua nhan vien.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Moi lua chon deu co ly do, khong chon theo cam tinh. Cac cong nghe nay cung nam trong muc diem sang tao cua de bai.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Nhom chon kien truc phan lop don gian, khong dung microservices vi vua suc nhom 3 nguoi.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Nhom khao sat hai he thong thuc te de hoc cach to chuc chuc nang, khong sao chep giao dien.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do ngu canh dat he thong o giua, cho thay luong thong tin trao doi voi ben ngoai.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 trang thai cua don hang. Don COD bo qua trang thai 0, vao thang trang thai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 tac nghiep vu la phan nhom dac biet chu y vi no quyet dinh cach viet code o giai doan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Chuc nang duoc chia thanh 5 subsystem ben Web va 5 subsystem ben Desktop, tong 40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bai bat buoc CSDL dat chuan 3NF. Nhom da kiem tra tung bang trong bao 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bang dat bang tieng Viet khong dau theo kieu PascalCase cho thong nhat voi bao 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 ve o muc bo cuc, chua di vao mau sac. Giai doan 2 se dung lai theo Bootstrap 5 va Fluent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Giai doan 1 da xong phan phan tich. Giai doan 2 se lan luot cai dat theo sau buoc nay.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Ket thuc phan trinh bay, moi thay va cac ban dat cau hoi.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b="1" spc="2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1874520"/>
            <a:ext cx="10332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40080" y="3840480"/>
            <a:ext cx="103327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971800"/>
            <a:ext cx="9601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06908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 txBox="1"/>
          <p:nvPr/>
        </p:nvSpPr>
        <p:spPr>
          <a:xfrm>
            <a:off x="640080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Nhóm 12 · Báo cáo GD1 · Hệ thống quản lý và bán sách trực tuyến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chemeClr val="accent5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 txBox="1"/>
          <p:nvPr/>
        </p:nvSpPr>
        <p:spPr>
          <a:xfrm>
            <a:off x="640080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Nhóm 12 · Báo cáo GD1 · Hệ thống quản lý và bán sách trực tuyến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chemeClr val="accent5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ĐỒ ÁN MÔN NGÔN NGỮ LẬP TRÌNH C#  ·  GIAI ĐOẠN 1</a:t>
            </a:r>
            <a:endParaRPr lang="en-US" sz="1500" dirty="0"/>
          </a:p>
        </p:txBody>
      </p:sp>
      <p:sp>
        <p:nvSpPr>
          <p:cNvPr id="3" name="Text 1"/>
          <p:cNvSpPr txBox="1"/>
          <p:nvPr>
            <p:ph idx="102" type="title" hasCustomPrompt="1"/>
          </p:nvPr>
        </p:nvSpPr>
        <p:spPr>
          <a:xfrm>
            <a:off x="640080" y="18745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Hệ thống quản lý và bán sách trực tuyến</a:t>
            </a:r>
            <a:endParaRPr lang="en-US" sz="4200" dirty="0"/>
          </a:p>
        </p:txBody>
      </p:sp>
      <p:sp>
        <p:nvSpPr>
          <p:cNvPr id="4" name="gach-bia"/>
          <p:cNvSpPr/>
          <p:nvPr/>
        </p:nvSpPr>
        <p:spPr>
          <a:xfrm>
            <a:off x="640080" y="3657600"/>
            <a:ext cx="2011680" cy="0"/>
          </a:xfrm>
          <a:prstGeom prst="line">
            <a:avLst/>
          </a:prstGeom>
          <a:noFill/>
          <a:ln w="31750">
            <a:solidFill>
              <a:srgbClr val="C98B5E"/>
            </a:solidFill>
            <a:prstDash val="solid"/>
          </a:ln>
        </p:spPr>
      </p:sp>
      <p:sp>
        <p:nvSpPr>
          <p:cNvPr id="5" name="Text 1"/>
          <p:cNvSpPr txBox="1"/>
          <p:nvPr>
            <p:ph idx="103" type="body" hasCustomPrompt="1"/>
          </p:nvPr>
        </p:nvSpPr>
        <p:spPr>
          <a:xfrm>
            <a:off x="640080" y="38404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Nhóm 12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Phạm Hoàng Sang – 3124411256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Võ Trần Hải Đăng – 3124411069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Ngô Hồ Đăng Khoa – 3124411130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6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GVGD: TS. Đỗ Như Tài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DCCB"/>
                </a:solidFill>
              </a:rPr>
              <a:t>Trường Đại học Sài Gòn · Khoa Công nghệ Thông tin · Tháng 10/2026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Nội dung trình bày</a:t>
            </a:r>
            <a:endParaRPr lang="en-US" sz="3200" dirty="0"/>
          </a:p>
        </p:txBody>
      </p:sp>
      <p:sp>
        <p:nvSpPr>
          <p:cNvPr id="3" name="muc01"/>
          <p:cNvSpPr/>
          <p:nvPr/>
        </p:nvSpPr>
        <p:spPr>
          <a:xfrm>
            <a:off x="640080" y="1554480"/>
            <a:ext cx="109728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ron01"/>
          <p:cNvSpPr/>
          <p:nvPr/>
        </p:nvSpPr>
        <p:spPr>
          <a:xfrm>
            <a:off x="1005840" y="185623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56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Tổng quan hệ thống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22199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Bài toán đặt ra, mục tiêu, đối tượng sử dụng và phạm vi của hệ thống</a:t>
            </a:r>
            <a:endParaRPr lang="en-US" sz="1300" dirty="0"/>
          </a:p>
        </p:txBody>
      </p:sp>
      <p:sp>
        <p:nvSpPr>
          <p:cNvPr id="8" name="muc02"/>
          <p:cNvSpPr/>
          <p:nvPr/>
        </p:nvSpPr>
        <p:spPr>
          <a:xfrm>
            <a:off x="640080" y="3035808"/>
            <a:ext cx="109728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ron02"/>
          <p:cNvSpPr/>
          <p:nvPr/>
        </p:nvSpPr>
        <p:spPr>
          <a:xfrm>
            <a:off x="1005840" y="3337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3310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Khảo sát công nghệ liên quan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7033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Lựa chọn công nghệ cho từng thành phần và kiến trúc tổng thể</a:t>
            </a:r>
            <a:endParaRPr lang="en-US" sz="1300" dirty="0"/>
          </a:p>
        </p:txBody>
      </p:sp>
      <p:sp>
        <p:nvSpPr>
          <p:cNvPr id="13" name="muc03"/>
          <p:cNvSpPr/>
          <p:nvPr/>
        </p:nvSpPr>
        <p:spPr>
          <a:xfrm>
            <a:off x="640080" y="4517136"/>
            <a:ext cx="109728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ron03"/>
          <p:cNvSpPr/>
          <p:nvPr/>
        </p:nvSpPr>
        <p:spPr>
          <a:xfrm>
            <a:off x="1005840" y="481888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818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47914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Phân tích hệ thống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518464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Nghiệp vụ, chức năng, dữ liệu ba mức và giao diện</a:t>
            </a:r>
            <a:endParaRPr lang="en-US" sz="13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0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64008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chemeClr val="accent3"/>
                </a:solidFill>
              </a:rPr>
              <a:t>CHƯƠNG 1</a:t>
            </a:r>
            <a:endParaRPr lang="en-US" sz="17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64008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Tổng quan hệ thống</a:t>
            </a:r>
            <a:endParaRPr lang="en-US" sz="40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640080" y="40690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Bài toán · Mục tiêu · Đối tượng sử dụng · Phạm vi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Bài toán đặt ra</a:t>
            </a:r>
            <a:endParaRPr lang="en-US" sz="3200" dirty="0"/>
          </a:p>
        </p:txBody>
      </p:sp>
      <p:sp>
        <p:nvSpPr>
          <p:cNvPr id="3" name="card1"/>
          <p:cNvSpPr/>
          <p:nvPr/>
        </p:nvSpPr>
        <p:spPr>
          <a:xfrm>
            <a:off x="64008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dau-Nhà sách truyền thống"/>
          <p:cNvSpPr/>
          <p:nvPr/>
        </p:nvSpPr>
        <p:spPr>
          <a:xfrm>
            <a:off x="640080" y="1463040"/>
            <a:ext cx="534924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4630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Nhà sách truyền thống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Khách phải đến tận cửa hàng, tự tìm sách trên kệ hoặc nhờ nhân viên tra cứu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Hết sách thì khách quay lại lần sau hoặc để số điện thoại chờ gọi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Đơn đặt qua điện thoại, mạng xã hội do nhân viên tự ghi, tự tính tiền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Tồn kho, doanh thu theo dõi bằng sổ sách và bảng tính, dễ sai lệch</a:t>
            </a:r>
            <a:endParaRPr lang="en-US" sz="1400" dirty="0"/>
          </a:p>
        </p:txBody>
      </p:sp>
      <p:sp>
        <p:nvSpPr>
          <p:cNvPr id="7" name="card2"/>
          <p:cNvSpPr/>
          <p:nvPr/>
        </p:nvSpPr>
        <p:spPr>
          <a:xfrm>
            <a:off x="621792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dau-Hệ thống cần xây dựng"/>
          <p:cNvSpPr/>
          <p:nvPr/>
        </p:nvSpPr>
        <p:spPr>
          <a:xfrm>
            <a:off x="6217920" y="1463040"/>
            <a:ext cx="53492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4630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Hệ thống cần xây dựng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774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Khách tìm và đặt sách trực tuyến bất kể thời gian, địa điểm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Tồn kho hiển thị theo thời gian thực, trừ ngay khi đơn được tạo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Đơn hàng vào thẳng hệ thống, nhân viên xử lý theo quy trình thống nhất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Báo cáo doanh thu, tồn kho tổng hợp tự động từ dữ liệu phát sinh</a:t>
            </a:r>
            <a:endParaRPr lang="en-US" sz="14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3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Hai thành phần dùng chung một cơ sở dữ liệu</a:t>
            </a:r>
            <a:endParaRPr lang="en-US" sz="3200" dirty="0"/>
          </a:p>
        </p:txBody>
      </p:sp>
      <p:sp>
        <p:nvSpPr>
          <p:cNvPr id="3" name="card3"/>
          <p:cNvSpPr/>
          <p:nvPr/>
        </p:nvSpPr>
        <p:spPr>
          <a:xfrm>
            <a:off x="640080" y="1417320"/>
            <a:ext cx="5349240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459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Trang Web bán sách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0299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Khách vãng lai · Khách hàng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Trang chủ, danh mục, tìm kiếm và lọc sách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Xem chi tiết sách, thêm vào giỏ hàng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Đặt hàng, thanh toán VNPay hoặc COD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Theo dõi đơn, sổ địa chỉ giao hàng</a:t>
            </a:r>
            <a:endParaRPr lang="en-US" sz="1350" dirty="0"/>
          </a:p>
        </p:txBody>
      </p:sp>
      <p:sp>
        <p:nvSpPr>
          <p:cNvPr id="7" name="card4"/>
          <p:cNvSpPr/>
          <p:nvPr/>
        </p:nvSpPr>
        <p:spPr>
          <a:xfrm>
            <a:off x="6217920" y="1417320"/>
            <a:ext cx="5349240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459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Ứng dụng quản trị Desktop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0299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Nhân viên · Quản lý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6888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Quản lý sách, loại sách, tác giả, nhà xuất bản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Xử lý đơn hàng theo từng trạng thái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Quản lý kho, lập phiếu nhập từ nhà cung cấp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Dashboard, báo cáo thống kê, xuất Excel</a:t>
            </a:r>
            <a:endParaRPr lang="en-US" sz="1350" dirty="0"/>
          </a:p>
        </p:txBody>
      </p:sp>
      <p:sp>
        <p:nvSpPr>
          <p:cNvPr id="11" name="card5"/>
          <p:cNvSpPr/>
          <p:nvPr/>
        </p:nvSpPr>
        <p:spPr>
          <a:xfrm>
            <a:off x="640080" y="4800600"/>
            <a:ext cx="10927080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800600"/>
            <a:ext cx="10287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Dùng chung một CSDL SQL Server: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sách do Quản lý cập nhật trên Desktop hiển thị ngay trên Web; đơn khách đặt trên Web được Nhân viên xử lý trên Desktop; hai nơi dùng chung bảng tài khoản và vai trò.</a:t>
            </a:r>
            <a:endParaRPr lang="en-US" sz="135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5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Đối tượng sử dụng và phân quyền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27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635508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Tác nhân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Thành phần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Vai trò chính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Khách vãng lai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Trang Web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Xem sách, tìm kiếm, đăng ký tài khoản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Khách hàng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Trang Web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Đặt hàng, thanh toán, theo dõi đơn, quản lý địa chỉ giao hàng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Nhân viên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Ứng dụng quản trị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Xử lý đơn hàng, cập nhật sách, lập phiếu nhập kho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Quản lý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Ứng dụng quản trị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Toàn quyền của Nhân viên, thêm quản lý nhân viên và xem báo cáo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Cổng thanh toán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Hệ thống ngoài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1A1E"/>
                          </a:solidFill>
                        </a:rPr>
                        <a:t>Nhận yêu cầu thanh toán và trả kết quả giao dịch về hệ thống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3949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chemeClr val="accent5"/>
                </a:solidFill>
              </a:rPr>
              <a:t>Quản lý kế thừa toàn bộ quyền của Nhân viên. Tài khoản có vai trò Khách hàng bị từ chối ngay khi đăng nhập ứng dụng quản trị.</a:t>
            </a:r>
            <a:endParaRPr lang="en-US" sz="135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7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64008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chemeClr val="accent3"/>
                </a:solidFill>
              </a:rPr>
              <a:t>CHƯƠNG 2</a:t>
            </a:r>
            <a:endParaRPr lang="en-US" sz="17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64008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Khảo sát công nghệ liên quan</a:t>
            </a:r>
            <a:endParaRPr lang="en-US" sz="40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640080" y="40690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So sánh và lựa chọn công nghệ · Kiến trúc hệ thống · Khảo sát hệ thống tương tự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Công nghệ đã lựa chọn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27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286000"/>
                <a:gridCol w="4434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Thành phần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Phương án khác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Nhóm chọn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Lý do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Ứng dụng quản trị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WinForms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WinUI 3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Giao diện Fluent hiện đại, hỗ trợ XAML và mô hình MVVM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Trang Web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ASP.NET Core MVC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Blazor Server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Viết toàn bộ bằng C#, cập nhật giỏ hàng không cần JavaScript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Truy xuất dữ liệu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ADO.NET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EF Core 8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Code First, Migrations, LINQ thay cho câu lệnh SQL thủ công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Kết nối Desktop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Nối thẳng CSDL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Web API + JWT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Không đặt chuỗi kết nối trên máy nhân viên, kiểm tra quyền tập trung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Xác thực Web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Tự viết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ASP.NET Core Identity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A1A1E"/>
                          </a:solidFill>
                        </a:rPr>
                        <a:t>Có sẵn băm mật khẩu, khóa tài khoản, đặt lại mật khẩu qua email</a:t>
                      </a:r>
                      <a:endParaRPr lang="en-US" sz="135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07492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chemeClr val="accent5"/>
                </a:solidFill>
              </a:rPr>
              <a:t>Các lựa chọn đều nằm trong danh mục điểm sáng tạo của đề bài: WinUI 3, Blazor, EF Core, Web API, DI, Unit Test.</a:t>
            </a:r>
            <a:endParaRPr lang="en-US" sz="135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7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Kiến trúc hệ thống</a:t>
            </a:r>
            <a:endParaRPr lang="en-US" sz="3200" dirty="0"/>
          </a:p>
        </p:txBody>
      </p:sp>
      <p:pic>
        <p:nvPicPr>
          <p:cNvPr id="3" name="hinh-kientruc" descr="D:\Dekstop\ĐỒ ÁN\C_Sharp\tools\bao-cao\img\kientr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57540"/>
            <a:ext cx="5852160" cy="4400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03720" y="1417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Monolith phân lớp, 7 project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903720" y="1901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BookStore.Domain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21396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Entity và enum trạng thái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BookStore.Data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EF Core DbContext, Migrations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2999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BookStore.Services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32369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Nghiệp vụ, validation, DTO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BookStore.Api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37856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Web API cho Desktop, JWT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BookStore.Web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903720" y="43342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Blazor – trang khách hàng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4645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BookStore.Admin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4882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WinUI 3 – ứng dụng quản trị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5193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BookStore.Tests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54315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xUnit cho tầng Services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5760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Mỗi tầng chỉ phụ thuộc vào interface của tầng dưới, đăng ký qua Dependency Injection.</a:t>
            </a:r>
            <a:endParaRPr lang="en-US" sz="1200" dirty="0"/>
          </a:p>
        </p:txBody>
      </p:sp>
      <p:sp>
        <p:nvSpPr>
          <p:cNvPr id="21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2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Khảo sát các hệ thống tương tự</a:t>
            </a:r>
            <a:endParaRPr lang="en-US" sz="3200" dirty="0"/>
          </a:p>
        </p:txBody>
      </p:sp>
      <p:sp>
        <p:nvSpPr>
          <p:cNvPr id="3" name="card6"/>
          <p:cNvSpPr/>
          <p:nvPr/>
        </p:nvSpPr>
        <p:spPr>
          <a:xfrm>
            <a:off x="640080" y="1463040"/>
            <a:ext cx="109270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700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Fahasa.com.vn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0665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Nhà sách trực tuyến lớn tại Việt Nam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70078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Danh mục nhiều cấp, bộ lọc theo nhà xuất bản và khoảng giá, trang chi tiết sách đầy đủ thông số</a:t>
            </a:r>
            <a:endParaRPr lang="en-US" sz="1400" dirty="0"/>
          </a:p>
        </p:txBody>
      </p:sp>
      <p:sp>
        <p:nvSpPr>
          <p:cNvPr id="7" name="card7"/>
          <p:cNvSpPr/>
          <p:nvPr/>
        </p:nvSpPr>
        <p:spPr>
          <a:xfrm>
            <a:off x="640080" y="2834640"/>
            <a:ext cx="109270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0723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Tiki.vn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4381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Sàn thương mại điện tử có ngành hàng sách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07238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Giỏ hàng giữ lại sau khi đăng nhập, nhiều hình thức thanh toán, trang theo dõi trạng thái đơn rõ ràng</a:t>
            </a:r>
            <a:endParaRPr lang="en-US" sz="1400" dirty="0"/>
          </a:p>
        </p:txBody>
      </p:sp>
      <p:sp>
        <p:nvSpPr>
          <p:cNvPr id="11" name="card8"/>
          <p:cNvSpPr/>
          <p:nvPr/>
        </p:nvSpPr>
        <p:spPr>
          <a:xfrm>
            <a:off x="640080" y="4343400"/>
            <a:ext cx="10927080" cy="1234440"/>
          </a:xfrm>
          <a:prstGeom prst="roundRect">
            <a:avLst>
              <a:gd name="adj" fmla="val 592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343400"/>
            <a:ext cx="10195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Nhóm kế thừa: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cách tổ chức danh mục nhiều cấp, bộ lọc kết hợp nhiều tiêu chí, luồng giỏ hàng – đặt hàng – theo dõi đơn.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Nhóm lược bỏ: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sàn nhiều người bán, khuyến mãi và đánh giá sách, vì vượt quá phạm vi một đồ án môn học.</a:t>
            </a:r>
            <a:endParaRPr lang="en-US" sz="135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5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64008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chemeClr val="accent3"/>
                </a:solidFill>
              </a:rPr>
              <a:t>CHƯƠNG 3</a:t>
            </a:r>
            <a:endParaRPr lang="en-US" sz="17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64008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Phân tích hệ thống</a:t>
            </a:r>
            <a:endParaRPr lang="en-US" sz="40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640080" y="40690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Nghiệp vụ · Chức năng · Dữ liệu ba mức · Giao diện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Sơ đồ ngữ cảnh hệ thống</a:t>
            </a:r>
            <a:endParaRPr lang="en-US" sz="3200" dirty="0"/>
          </a:p>
        </p:txBody>
      </p:sp>
      <p:pic>
        <p:nvPicPr>
          <p:cNvPr id="3" name="hinh-context" descr="D:\Dekstop\ĐỒ ÁN\C_Sharp\tools\bao-cao\img\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10666"/>
            <a:ext cx="6492240" cy="39109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Bốn tác nhân ngoài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1965960"/>
            <a:ext cx="3429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Khách hàng gửi yêu cầu tìm sách, đặt hàng và nhận thông tin đơn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Nhân viên xử lý đơn, cập nhật sách và nhập kho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Quản lý xem báo cáo thống kê, quản lý nhân viên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Cổng thanh toán VNPay nhận yêu cầu và trả kết quả giao dịch</a:t>
            </a:r>
            <a:endParaRPr lang="en-US" sz="13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Vòng đời đơn hàng</a:t>
            </a:r>
            <a:endParaRPr lang="en-US" sz="3200" dirty="0"/>
          </a:p>
        </p:txBody>
      </p:sp>
      <p:pic>
        <p:nvPicPr>
          <p:cNvPr id="3" name="hinh-state_donhang" descr="D:\Dekstop\ĐỒ ÁN\C_Sharp\tools\bao-cao\img\state_donh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0692" y="1371600"/>
            <a:ext cx="5705856" cy="2743200"/>
          </a:xfrm>
          <a:prstGeom prst="rect">
            <a:avLst/>
          </a:prstGeom>
        </p:spPr>
      </p:pic>
      <p:sp>
        <p:nvSpPr>
          <p:cNvPr id="4" name="card9"/>
          <p:cNvSpPr/>
          <p:nvPr/>
        </p:nvSpPr>
        <p:spPr>
          <a:xfrm>
            <a:off x="640080" y="4434840"/>
            <a:ext cx="1691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434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0 · Chờ thanh toán</a:t>
            </a:r>
            <a:endParaRPr lang="en-US" sz="1150" dirty="0"/>
          </a:p>
        </p:txBody>
      </p:sp>
      <p:sp>
        <p:nvSpPr>
          <p:cNvPr id="6" name="card10"/>
          <p:cNvSpPr/>
          <p:nvPr/>
        </p:nvSpPr>
        <p:spPr>
          <a:xfrm>
            <a:off x="2468880" y="4434840"/>
            <a:ext cx="1691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468880" y="4434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 · Chờ xác nhận</a:t>
            </a:r>
            <a:endParaRPr lang="en-US" sz="1150" dirty="0"/>
          </a:p>
        </p:txBody>
      </p:sp>
      <p:sp>
        <p:nvSpPr>
          <p:cNvPr id="8" name="card11"/>
          <p:cNvSpPr/>
          <p:nvPr/>
        </p:nvSpPr>
        <p:spPr>
          <a:xfrm>
            <a:off x="4297680" y="4434840"/>
            <a:ext cx="1691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97680" y="4434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2 · Đã xác nhận</a:t>
            </a:r>
            <a:endParaRPr lang="en-US" sz="1150" dirty="0"/>
          </a:p>
        </p:txBody>
      </p:sp>
      <p:sp>
        <p:nvSpPr>
          <p:cNvPr id="10" name="card12"/>
          <p:cNvSpPr/>
          <p:nvPr/>
        </p:nvSpPr>
        <p:spPr>
          <a:xfrm>
            <a:off x="6126480" y="4434840"/>
            <a:ext cx="1691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4434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3 · Đang giao</a:t>
            </a:r>
            <a:endParaRPr lang="en-US" sz="1150" dirty="0"/>
          </a:p>
        </p:txBody>
      </p:sp>
      <p:sp>
        <p:nvSpPr>
          <p:cNvPr id="12" name="card13"/>
          <p:cNvSpPr/>
          <p:nvPr/>
        </p:nvSpPr>
        <p:spPr>
          <a:xfrm>
            <a:off x="7955280" y="4434840"/>
            <a:ext cx="1691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55280" y="4434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4 · Hoàn thành</a:t>
            </a:r>
            <a:endParaRPr lang="en-US" sz="1150" dirty="0"/>
          </a:p>
        </p:txBody>
      </p:sp>
      <p:sp>
        <p:nvSpPr>
          <p:cNvPr id="14" name="card14"/>
          <p:cNvSpPr/>
          <p:nvPr/>
        </p:nvSpPr>
        <p:spPr>
          <a:xfrm>
            <a:off x="9784080" y="4434840"/>
            <a:ext cx="16916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784080" y="4434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5 · Đã hủy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1663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Đơn giao thất bại chuyển sang trạng thái Đã hủy, lý do lưu ở ghi chú và lịch sử đơn hàng; tồn kho được hoàn lại theo quy tắc BR03.</a:t>
            </a:r>
            <a:endParaRPr lang="en-US" sz="1300" dirty="0"/>
          </a:p>
        </p:txBody>
      </p:sp>
      <p:sp>
        <p:nvSpPr>
          <p:cNvPr id="18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9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Quy tắc nghiệp vụ tiêu biểu</a:t>
            </a:r>
            <a:endParaRPr lang="en-US" sz="3200" dirty="0"/>
          </a:p>
        </p:txBody>
      </p:sp>
      <p:sp>
        <p:nvSpPr>
          <p:cNvPr id="3" name="card15"/>
          <p:cNvSpPr/>
          <p:nvPr/>
        </p:nvSpPr>
        <p:spPr>
          <a:xfrm>
            <a:off x="640080" y="1463040"/>
            <a:ext cx="5349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maBR01"/>
          <p:cNvSpPr/>
          <p:nvPr/>
        </p:nvSpPr>
        <p:spPr>
          <a:xfrm>
            <a:off x="914400" y="1737360"/>
            <a:ext cx="86868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691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Thêm sách vào giỏ hàng bắt buộc đã đăng nhập; khách chưa đăng nhập được chuyển sang trang Đăng nhập rồi quay lại thao tác đang dở</a:t>
            </a:r>
            <a:endParaRPr lang="en-US" sz="1250" dirty="0"/>
          </a:p>
        </p:txBody>
      </p:sp>
      <p:sp>
        <p:nvSpPr>
          <p:cNvPr id="7" name="card16"/>
          <p:cNvSpPr/>
          <p:nvPr/>
        </p:nvSpPr>
        <p:spPr>
          <a:xfrm>
            <a:off x="6217920" y="1463040"/>
            <a:ext cx="5349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maBR02"/>
          <p:cNvSpPr/>
          <p:nvPr/>
        </p:nvSpPr>
        <p:spPr>
          <a:xfrm>
            <a:off x="6492240" y="1737360"/>
            <a:ext cx="86868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373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1691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Tồn kho bị trừ ngay khi đơn hàng được tạo, nằm trong cùng một transaction để không bán vượt số lượng còn lại</a:t>
            </a:r>
            <a:endParaRPr lang="en-US" sz="1250" dirty="0"/>
          </a:p>
        </p:txBody>
      </p:sp>
      <p:sp>
        <p:nvSpPr>
          <p:cNvPr id="11" name="card17"/>
          <p:cNvSpPr/>
          <p:nvPr/>
        </p:nvSpPr>
        <p:spPr>
          <a:xfrm>
            <a:off x="640080" y="2834640"/>
            <a:ext cx="5349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maBR03"/>
          <p:cNvSpPr/>
          <p:nvPr/>
        </p:nvSpPr>
        <p:spPr>
          <a:xfrm>
            <a:off x="914400" y="3108960"/>
            <a:ext cx="86868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108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063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Đơn bị hủy hoặc giao thất bại thì hoàn lại đúng số lượng đã trừ vào tồn kho</a:t>
            </a:r>
            <a:endParaRPr lang="en-US" sz="1250" dirty="0"/>
          </a:p>
        </p:txBody>
      </p:sp>
      <p:sp>
        <p:nvSpPr>
          <p:cNvPr id="15" name="card18"/>
          <p:cNvSpPr/>
          <p:nvPr/>
        </p:nvSpPr>
        <p:spPr>
          <a:xfrm>
            <a:off x="6217920" y="2834640"/>
            <a:ext cx="5349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maBR04"/>
          <p:cNvSpPr/>
          <p:nvPr/>
        </p:nvSpPr>
        <p:spPr>
          <a:xfrm>
            <a:off x="6492240" y="3108960"/>
            <a:ext cx="86868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108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3063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Đơn thanh toán VNPay quá 30 phút chưa thanh toán sẽ tự động hủy</a:t>
            </a:r>
            <a:endParaRPr lang="en-US" sz="1250" dirty="0"/>
          </a:p>
        </p:txBody>
      </p:sp>
      <p:sp>
        <p:nvSpPr>
          <p:cNvPr id="19" name="card19"/>
          <p:cNvSpPr/>
          <p:nvPr/>
        </p:nvSpPr>
        <p:spPr>
          <a:xfrm>
            <a:off x="640080" y="4206240"/>
            <a:ext cx="5349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maBR06"/>
          <p:cNvSpPr/>
          <p:nvPr/>
        </p:nvSpPr>
        <p:spPr>
          <a:xfrm>
            <a:off x="914400" y="4480560"/>
            <a:ext cx="86868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4805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BR06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4348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Phiếu nhập chỉ cộng vào tồn kho khi chuyển sang trạng thái Hoàn thành, sau đó không được sửa hay xóa</a:t>
            </a:r>
            <a:endParaRPr lang="en-US" sz="1250" dirty="0"/>
          </a:p>
        </p:txBody>
      </p:sp>
      <p:sp>
        <p:nvSpPr>
          <p:cNvPr id="23" name="card20"/>
          <p:cNvSpPr/>
          <p:nvPr/>
        </p:nvSpPr>
        <p:spPr>
          <a:xfrm>
            <a:off x="6217920" y="4206240"/>
            <a:ext cx="5349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maBR10"/>
          <p:cNvSpPr/>
          <p:nvPr/>
        </p:nvSpPr>
        <p:spPr>
          <a:xfrm>
            <a:off x="6492240" y="4480560"/>
            <a:ext cx="86868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44805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BR10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44348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Phí vận chuyển 25.000đ, miễn phí cho đơn từ 300.000đ trở lên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53212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Hệ thống có 10 quy tắc nghiệp vụ BR01 – BR10, là căn cứ để viết luồng xử lý và kiểm thử ở giai đoạn sau.</a:t>
            </a:r>
            <a:endParaRPr lang="en-US" sz="1300" dirty="0"/>
          </a:p>
        </p:txBody>
      </p:sp>
      <p:sp>
        <p:nvSpPr>
          <p:cNvPr id="29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0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Phân tích chức năng</a:t>
            </a:r>
            <a:endParaRPr lang="en-US" sz="3200" dirty="0"/>
          </a:p>
        </p:txBody>
      </p:sp>
      <p:pic>
        <p:nvPicPr>
          <p:cNvPr id="3" name="hinh-phanra" descr="D:\Dekstop\ĐỒ ÁN\C_Sharp\tools\bao-cao\img\phan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2287" y="1325880"/>
            <a:ext cx="5782666" cy="2834640"/>
          </a:xfrm>
          <a:prstGeom prst="rect">
            <a:avLst/>
          </a:prstGeom>
        </p:spPr>
      </p:pic>
      <p:sp>
        <p:nvSpPr>
          <p:cNvPr id="4" name="card21"/>
          <p:cNvSpPr/>
          <p:nvPr/>
        </p:nvSpPr>
        <p:spPr>
          <a:xfrm>
            <a:off x="640080" y="4526280"/>
            <a:ext cx="25603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6177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257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subsystem</a:t>
            </a:r>
            <a:endParaRPr lang="en-US" sz="1300" dirty="0"/>
          </a:p>
        </p:txBody>
      </p:sp>
      <p:sp>
        <p:nvSpPr>
          <p:cNvPr id="7" name="card22"/>
          <p:cNvSpPr/>
          <p:nvPr/>
        </p:nvSpPr>
        <p:spPr>
          <a:xfrm>
            <a:off x="3429000" y="4526280"/>
            <a:ext cx="25603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46177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40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5257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use case</a:t>
            </a:r>
            <a:endParaRPr lang="en-US" sz="1300" dirty="0"/>
          </a:p>
        </p:txBody>
      </p:sp>
      <p:sp>
        <p:nvSpPr>
          <p:cNvPr id="10" name="card23"/>
          <p:cNvSpPr/>
          <p:nvPr/>
        </p:nvSpPr>
        <p:spPr>
          <a:xfrm>
            <a:off x="6217920" y="4526280"/>
            <a:ext cx="25603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46177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24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5257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đặc tả use case</a:t>
            </a:r>
            <a:endParaRPr lang="en-US" sz="1300" dirty="0"/>
          </a:p>
        </p:txBody>
      </p:sp>
      <p:sp>
        <p:nvSpPr>
          <p:cNvPr id="13" name="card24"/>
          <p:cNvSpPr/>
          <p:nvPr/>
        </p:nvSpPr>
        <p:spPr>
          <a:xfrm>
            <a:off x="9006840" y="4526280"/>
            <a:ext cx="25603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06840" y="46177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5257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Epic user story</a:t>
            </a:r>
            <a:endParaRPr lang="en-US" sz="1300" dirty="0"/>
          </a:p>
        </p:txBody>
      </p:sp>
      <p:sp>
        <p:nvSpPr>
          <p:cNvPr id="17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8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Phân tích dữ liệu – ba mức</a:t>
            </a:r>
            <a:endParaRPr lang="en-US" sz="3200" dirty="0"/>
          </a:p>
        </p:txBody>
      </p:sp>
      <p:pic>
        <p:nvPicPr>
          <p:cNvPr id="3" name="hinh-erd" descr="D:\Dekstop\ĐỒ ÁN\C_Sharp\tools\bao-cao\img\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316" y="1325880"/>
            <a:ext cx="3270809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663440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Mức ý niệm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663440" y="17830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Sơ đồ ERD với đầy đủ thực thể, thuộc tính, khóa chính và thuộc tính của quan hệ nhiều – nhiều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Mức luận lý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Chuyển ERD thành lược đồ quan hệ, tách quan hệ n–n thành bảng trung gian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3794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Mức vật lý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41605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19 bảng với kiểu dữ liệu, ràng buộc khóa chính, khóa ngoại, NOT NULL và UNIQUE cụ thể trên SQL Server</a:t>
            </a:r>
            <a:endParaRPr lang="en-US" sz="1350" dirty="0"/>
          </a:p>
        </p:txBody>
      </p:sp>
      <p:sp>
        <p:nvSpPr>
          <p:cNvPr id="10" name="card25"/>
          <p:cNvSpPr/>
          <p:nvPr/>
        </p:nvSpPr>
        <p:spPr>
          <a:xfrm>
            <a:off x="4663440" y="5029200"/>
            <a:ext cx="690372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83480" y="5029200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Đã kiểm tra 1NF, 2NF, 3NF.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Các cột đơn giá và tổng tiền lưu trong đơn hàng là dữ liệu lịch sử tại thời điểm đặt, không vi phạm 3NF.</a:t>
            </a:r>
            <a:endParaRPr lang="en-US" sz="1250" dirty="0"/>
          </a:p>
        </p:txBody>
      </p:sp>
      <p:sp>
        <p:nvSpPr>
          <p:cNvPr id="13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4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Lược đồ cơ sở dữ liệu mức vật lý</a:t>
            </a:r>
            <a:endParaRPr lang="en-US" sz="3200" dirty="0"/>
          </a:p>
        </p:txBody>
      </p:sp>
      <p:pic>
        <p:nvPicPr>
          <p:cNvPr id="3" name="hinh-db_vatly" descr="D:\Dekstop\ĐỒ ÁN\C_Sharp\tools\bao-cao\img\db_vat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149" y="1325880"/>
            <a:ext cx="4659782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086600" y="1417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19 bảng dùng chung cho cả hai thành phần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086600" y="2194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Tài khoản và người dùng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24505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VaiTro, TaiKhoan, KhachHang, DiaChiGiaoHang, NhanVien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3108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Sách và danh mục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33649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LoaiSach, TacGia, NhaXuatBan, Sach, Sach_TacGia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Kho và nhập hàng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42793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NhaCungCap, PhieuNhap, CTPhieuNhap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4937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Bán hàng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51937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GioHang, CTGioHang, DonHang, CTDonHang, LichSuDonHang, ThanhToan</a:t>
            </a:r>
            <a:endParaRPr lang="en-US" sz="115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5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Phân tích giao diện</a:t>
            </a:r>
            <a:endParaRPr lang="en-US" sz="3200" dirty="0"/>
          </a:p>
        </p:txBody>
      </p:sp>
      <p:sp>
        <p:nvSpPr>
          <p:cNvPr id="3" name="card26"/>
          <p:cNvSpPr/>
          <p:nvPr/>
        </p:nvSpPr>
        <p:spPr>
          <a:xfrm>
            <a:off x="640080" y="1417320"/>
            <a:ext cx="5349240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hinh-wf_home" descr="D:\Dekstop\ĐỒ ÁN\C_Sharp\tools\bao-cao\img\wf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8" y="1645920"/>
            <a:ext cx="4496105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7091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Trang chủ – Web Blazor</a:t>
            </a:r>
            <a:endParaRPr lang="en-US" sz="1350" dirty="0"/>
          </a:p>
        </p:txBody>
      </p:sp>
      <p:sp>
        <p:nvSpPr>
          <p:cNvPr id="6" name="card27"/>
          <p:cNvSpPr/>
          <p:nvPr/>
        </p:nvSpPr>
        <p:spPr>
          <a:xfrm>
            <a:off x="6217920" y="1417320"/>
            <a:ext cx="5349240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hinh-wf_dk_dashboard" descr="D:\Dekstop\ĐỒ ÁN\C_Sharp\tools\bao-cao\img\wf_dk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8" y="1645920"/>
            <a:ext cx="4496105" cy="3017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0" y="47091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Dashboard – Desktop WinUI 3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3492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chemeClr val="accent5"/>
                </a:solidFill>
              </a:rPr>
              <a:t>Toàn bộ 15 màn hình đã liệt kê đều có wireframe kèm mô tả: 8 màn hình trang Web và 7 màn hình ứng dụng quản trị.</a:t>
            </a:r>
            <a:endParaRPr lang="en-US" sz="135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2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Kết quả giai đoạn 1 và kế hoạch tiếp theo</a:t>
            </a:r>
            <a:endParaRPr lang="en-US" sz="3200" dirty="0"/>
          </a:p>
        </p:txBody>
      </p:sp>
      <p:sp>
        <p:nvSpPr>
          <p:cNvPr id="3" name="card28"/>
          <p:cNvSpPr/>
          <p:nvPr/>
        </p:nvSpPr>
        <p:spPr>
          <a:xfrm>
            <a:off x="640080" y="1417320"/>
            <a:ext cx="5349240" cy="4343400"/>
          </a:xfrm>
          <a:prstGeom prst="roundRect">
            <a:avLst>
              <a:gd name="adj" fmla="val 168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459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Đã hoàn thành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Báo cáo phân tích 82 trang, 34 hình minh họa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Xác định rõ phạm vi, tác nhân và phân quyền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Chốt công nghệ và kiến trúc 7 project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40 use case, 24 đặc tả, user story theo 7 Epic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Thiết kế dữ liệu ba mức, 19 bảng đạt 3NF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Wireframe đủ 15 màn hình của cả hai thành phần</a:t>
            </a:r>
            <a:endParaRPr lang="en-US" sz="1350" dirty="0"/>
          </a:p>
        </p:txBody>
      </p:sp>
      <p:sp>
        <p:nvSpPr>
          <p:cNvPr id="6" name="card29"/>
          <p:cNvSpPr/>
          <p:nvPr/>
        </p:nvSpPr>
        <p:spPr>
          <a:xfrm>
            <a:off x="6217920" y="1417320"/>
            <a:ext cx="5349240" cy="4343400"/>
          </a:xfrm>
          <a:prstGeom prst="roundRect">
            <a:avLst>
              <a:gd name="adj" fmla="val 168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Giai đoạn 2</a:t>
            </a:r>
            <a:endParaRPr lang="en-US" sz="1900" dirty="0"/>
          </a:p>
        </p:txBody>
      </p:sp>
      <p:sp>
        <p:nvSpPr>
          <p:cNvPr id="8" name="buoc1"/>
          <p:cNvSpPr/>
          <p:nvPr/>
        </p:nvSpPr>
        <p:spPr>
          <a:xfrm>
            <a:off x="6537960" y="2221992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67728" y="2194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Tạo solution và 7 project, dựng khung WinUI 3</a:t>
            </a:r>
            <a:endParaRPr lang="en-US" sz="1250" dirty="0"/>
          </a:p>
        </p:txBody>
      </p:sp>
      <p:sp>
        <p:nvSpPr>
          <p:cNvPr id="11" name="buoc2"/>
          <p:cNvSpPr/>
          <p:nvPr/>
        </p:nvSpPr>
        <p:spPr>
          <a:xfrm>
            <a:off x="6537960" y="2798064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967728" y="2770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Entity, DbContext, migration đầu tiên và dữ liệu mẫu</a:t>
            </a:r>
            <a:endParaRPr lang="en-US" sz="1250" dirty="0"/>
          </a:p>
        </p:txBody>
      </p:sp>
      <p:sp>
        <p:nvSpPr>
          <p:cNvPr id="14" name="buoc3"/>
          <p:cNvSpPr/>
          <p:nvPr/>
        </p:nvSpPr>
        <p:spPr>
          <a:xfrm>
            <a:off x="6537960" y="3374136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967728" y="33467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Web API đăng nhập JWT, CRUD sách và danh mục</a:t>
            </a:r>
            <a:endParaRPr lang="en-US" sz="1250" dirty="0"/>
          </a:p>
        </p:txBody>
      </p:sp>
      <p:sp>
        <p:nvSpPr>
          <p:cNvPr id="17" name="buoc4"/>
          <p:cNvSpPr/>
          <p:nvPr/>
        </p:nvSpPr>
        <p:spPr>
          <a:xfrm>
            <a:off x="6537960" y="3950208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967728" y="39227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Trang Web: danh mục, tìm kiếm, giỏ hàng, đặt hàng</a:t>
            </a:r>
            <a:endParaRPr lang="en-US" sz="1250" dirty="0"/>
          </a:p>
        </p:txBody>
      </p:sp>
      <p:sp>
        <p:nvSpPr>
          <p:cNvPr id="20" name="buoc5"/>
          <p:cNvSpPr/>
          <p:nvPr/>
        </p:nvSpPr>
        <p:spPr>
          <a:xfrm>
            <a:off x="6537960" y="4526280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967728" y="44988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Desktop: xử lý đơn, kho, khách hàng và nhân viên</a:t>
            </a:r>
            <a:endParaRPr lang="en-US" sz="1250" dirty="0"/>
          </a:p>
        </p:txBody>
      </p:sp>
      <p:sp>
        <p:nvSpPr>
          <p:cNvPr id="23" name="buoc6"/>
          <p:cNvSpPr/>
          <p:nvPr/>
        </p:nvSpPr>
        <p:spPr>
          <a:xfrm>
            <a:off x="6537960" y="5102352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967728" y="5074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Dashboard, xuất Excel, unit test và báo cáo cuối kỳ</a:t>
            </a:r>
            <a:endParaRPr lang="en-US" sz="1250" dirty="0"/>
          </a:p>
        </p:txBody>
      </p:sp>
      <p:sp>
        <p:nvSpPr>
          <p:cNvPr id="27" name="Text 0"/>
          <p:cNvSpPr/>
          <p:nvPr>
            <p:ph idx="101" type="body" hasCustomPrompt="1"/>
          </p:nvPr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8" name="Text 1"/>
          <p:cNvSpPr/>
          <p:nvPr>
            <p:ph idx="103" hasCustomPrompt="1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NHÓM 12 · ĐỒ ÁN NGÔN NGỮ LẬP TRÌNH C#</a:t>
            </a:r>
            <a:endParaRPr lang="en-US" sz="1500" dirty="0"/>
          </a:p>
        </p:txBody>
      </p:sp>
      <p:sp>
        <p:nvSpPr>
          <p:cNvPr id="3" name="Text 1"/>
          <p:cNvSpPr txBox="1"/>
          <p:nvPr>
            <p:ph idx="102" type="title" hasCustomPrompt="1"/>
          </p:nvPr>
        </p:nvSpPr>
        <p:spPr>
          <a:xfrm>
            <a:off x="640080" y="18745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Cảm ơn thầy và các bạn đã lắng nghe</a:t>
            </a:r>
            <a:endParaRPr lang="en-US" sz="4200" dirty="0"/>
          </a:p>
        </p:txBody>
      </p:sp>
      <p:sp>
        <p:nvSpPr>
          <p:cNvPr id="4" name="Text 1"/>
          <p:cNvSpPr txBox="1"/>
          <p:nvPr>
            <p:ph idx="103" type="body" hasCustomPrompt="1"/>
          </p:nvPr>
        </p:nvSpPr>
        <p:spPr>
          <a:xfrm>
            <a:off x="640080" y="38404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Nhóm xin tiếp nhận câu hỏi và góp ý.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Phạm Hoàng Sang · Võ Trần Hải Đăng · Ngô Hồ Đăng Khoa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ha sach truc tuyen - Nhom 12">
  <a:themeElements>
    <a:clrScheme name="Nha sach truc tuyen - Nhom 12">
      <a:dk1>
        <a:srgbClr val="2A1A1E"/>
      </a:dk1>
      <a:lt1>
        <a:srgbClr val="FFFFFF"/>
      </a:lt1>
      <a:dk2>
        <a:srgbClr val="6D2E46"/>
      </a:dk2>
      <a:lt2>
        <a:srgbClr val="F7F1E8"/>
      </a:lt2>
      <a:accent1>
        <a:srgbClr val="6D2E46"/>
      </a:accent1>
      <a:accent2>
        <a:srgbClr val="A26769"/>
      </a:accent2>
      <a:accent3>
        <a:srgbClr val="C98B5E"/>
      </a:accent3>
      <a:accent4>
        <a:srgbClr val="4A6670"/>
      </a:accent4>
      <a:accent5>
        <a:srgbClr val="8A7F86"/>
      </a:accent5>
      <a:accent6>
        <a:srgbClr val="E7DCCB"/>
      </a:accent6>
      <a:hlink>
        <a:srgbClr val="6D2E46"/>
      </a:hlink>
      <a:folHlink>
        <a:srgbClr val="A26769"/>
      </a:folHlink>
    </a:clrScheme>
    <a:fontScheme name="Nha sach truc tuyen - Nhom 1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Truong Dai hoc Sai Gon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 thong quan ly va ban sach truc tuyen - Bao cao GD1</dc:title>
  <dc:subject>PptxGenJS Presentation</dc:subject>
  <dc:creator>Nhom 12</dc:creator>
  <cp:lastModifiedBy>Nhom 12</cp:lastModifiedBy>
  <cp:revision>1</cp:revision>
  <dcterms:created xsi:type="dcterms:W3CDTF">2026-10-30T07:19:53Z</dcterms:created>
  <dcterms:modified xsi:type="dcterms:W3CDTF">2026-10-30T07:19:53Z</dcterms:modified>
</cp:coreProperties>
</file>